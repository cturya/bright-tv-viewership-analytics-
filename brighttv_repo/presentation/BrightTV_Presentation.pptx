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Monthly Session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2199</c:v>
                </c:pt>
                <c:pt idx="1">
                  <c:v>2980</c:v>
                </c:pt>
                <c:pt idx="2">
                  <c:v>4816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Sessions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Hourly Pattern (SAST)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6B21A8"/>
            </a:solidFill>
            <a:ln w="31750" cap="flat">
              <a:solidFill>
                <a:srgbClr val="6B21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21A8"/>
              </a:solidFill>
              <a:ln w="9525" cap="flat">
                <a:solidFill>
                  <a:srgbClr val="6B21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00</c:v>
                  </c:pt>
                  <c:pt idx="1">
                    <c:v>02</c:v>
                  </c:pt>
                  <c:pt idx="2">
                    <c:v>04</c:v>
                  </c:pt>
                  <c:pt idx="3">
                    <c:v>06</c:v>
                  </c:pt>
                  <c:pt idx="4">
                    <c:v>08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</c:v>
                </c:pt>
                <c:pt idx="1">
                  <c:v>80</c:v>
                </c:pt>
                <c:pt idx="2">
                  <c:v>49</c:v>
                </c:pt>
                <c:pt idx="3">
                  <c:v>180</c:v>
                </c:pt>
                <c:pt idx="4">
                  <c:v>401</c:v>
                </c:pt>
                <c:pt idx="5">
                  <c:v>539</c:v>
                </c:pt>
                <c:pt idx="6">
                  <c:v>634</c:v>
                </c:pt>
                <c:pt idx="7">
                  <c:v>620</c:v>
                </c:pt>
                <c:pt idx="8">
                  <c:v>627</c:v>
                </c:pt>
                <c:pt idx="9">
                  <c:v>648</c:v>
                </c:pt>
                <c:pt idx="10">
                  <c:v>622</c:v>
                </c:pt>
                <c:pt idx="11">
                  <c:v>498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Top 10 Channels by Total Watch Time (mins)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 (mins)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ICC Cricket WC</c:v>
                  </c:pt>
                  <c:pt idx="1">
                    <c:v>Live Events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Boomerang</c:v>
                  </c:pt>
                  <c:pt idx="6">
                    <c:v>Cartoon Network</c:v>
                  </c:pt>
                  <c:pt idx="7">
                    <c:v>CNN</c:v>
                  </c:pt>
                  <c:pt idx="8">
                    <c:v>E! Entertainment</c:v>
                  </c:pt>
                  <c:pt idx="9">
                    <c:v>Africa Magic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24727</c:v>
                </c:pt>
                <c:pt idx="1">
                  <c:v>18791</c:v>
                </c:pt>
                <c:pt idx="2">
                  <c:v>11565</c:v>
                </c:pt>
                <c:pt idx="3">
                  <c:v>11515</c:v>
                </c:pt>
                <c:pt idx="4">
                  <c:v>5440</c:v>
                </c:pt>
                <c:pt idx="5">
                  <c:v>4395</c:v>
                </c:pt>
                <c:pt idx="6">
                  <c:v>4215</c:v>
                </c:pt>
                <c:pt idx="7">
                  <c:v>4066</c:v>
                </c:pt>
                <c:pt idx="8">
                  <c:v>2219</c:v>
                </c:pt>
                <c:pt idx="9">
                  <c:v>1473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Age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&lt;18</c:v>
                  </c:pt>
                  <c:pt idx="1">
                    <c:v>18–24</c:v>
                  </c:pt>
                  <c:pt idx="2">
                    <c:v>25–34</c:v>
                  </c:pt>
                  <c:pt idx="3">
                    <c:v>35–44</c:v>
                  </c:pt>
                  <c:pt idx="4">
                    <c:v>45–54</c:v>
                  </c:pt>
                  <c:pt idx="5">
                    <c:v>55+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</c:v>
                </c:pt>
                <c:pt idx="1">
                  <c:v>638</c:v>
                </c:pt>
                <c:pt idx="2">
                  <c:v>1894</c:v>
                </c:pt>
                <c:pt idx="3">
                  <c:v>1215</c:v>
                </c:pt>
                <c:pt idx="4">
                  <c:v>454</c:v>
                </c:pt>
                <c:pt idx="5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Gender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(88%)</c:v>
                </c:pt>
                <c:pt idx="1">
                  <c:v>Female (12%)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3916</c:v>
                </c:pt>
                <c:pt idx="1">
                  <c:v>537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W.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E. Cape</c:v>
                  </c:pt>
                  <c:pt idx="6">
                    <c:v>N. West</c:v>
                  </c:pt>
                  <c:pt idx="7">
                    <c:v>Free State</c:v>
                  </c:pt>
                  <c:pt idx="8">
                    <c:v>N.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1704</c:v>
                </c:pt>
                <c:pt idx="1">
                  <c:v>791</c:v>
                </c:pt>
                <c:pt idx="2">
                  <c:v>480</c:v>
                </c:pt>
                <c:pt idx="3">
                  <c:v>420</c:v>
                </c:pt>
                <c:pt idx="4">
                  <c:v>368</c:v>
                </c:pt>
                <c:pt idx="5">
                  <c:v>287</c:v>
                </c:pt>
                <c:pt idx="6">
                  <c:v>161</c:v>
                </c:pt>
                <c:pt idx="7">
                  <c:v>156</c:v>
                </c:pt>
                <c:pt idx="8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Monday Sessions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Live Events</c:v>
                  </c:pt>
                  <c:pt idx="1">
                    <c:v>ICC Cricket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Cartoon Network</c:v>
                  </c:pt>
                  <c:pt idx="5">
                    <c:v>Boomerang</c:v>
                  </c:pt>
                  <c:pt idx="6">
                    <c:v>Africa Magic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182</c:v>
                </c:pt>
                <c:pt idx="1">
                  <c:v>156</c:v>
                </c:pt>
                <c:pt idx="2">
                  <c:v>130</c:v>
                </c:pt>
                <c:pt idx="3">
                  <c:v>124</c:v>
                </c:pt>
                <c:pt idx="4">
                  <c:v>95</c:v>
                </c:pt>
                <c:pt idx="5">
                  <c:v>88</c:v>
                </c:pt>
                <c:pt idx="6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yourself. State the business objective: grow BrightTV's subscription base this financial year. Explain data period (Jan–Mar 2016) and that all times have been converted from UTC to SAST. Estimated time: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agenda briefly. Five sections, 3–4 minutes each. Emphasise this is data-driven — every recommendation comes directly from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walk through the two datasets. Highlight the 920 incomplete profiles — these are registered accounts that never completed setup, a re-engagement opportunity. Mention all UTC times were converted to SAST throughout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119% growth — that's the headline. Q1 alone shows the platform is growing fast. March spike is likely driven by the ICC Cricket World Cup content. 4,386 of 5,375 profiles are active — good engagement rate but 989 subscribers never watched.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 is the clear problem day — call it out. Saturday has the best quality viewing (longest sessions). The hourly chart shows a clear double peak: morning commute and post-work evening. Afternoon 12–17h has the highest dwell time per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dominates almost half of all viewing. This is both a strength and a risk — when there are no live events, consumption will drop. Music channels are the hidden gem. Children's content (Cartoon Network + Boomerang) at 10% represents a loyal family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key demographic points to hammer: 1) The 25–44 core is solid but narrow. 2) Only 12% female — this is a massive missed market. 3) Gauteng is over-indexed; KZN and Eastern Cape are growth territories. The 989 inactive subscribers are essentially free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factor quickly. The key message: consumption is driven by sports content, weekend timing, and afternoon hours. These three factors together explain most of the variance. The implication is clear — diversify away from sports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 is the weakest day by both volume and session quality. The good news: we can see what Monday viewers like — music and kids content. The fix is straightforward: create compelling Monday-specific content in these genres.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Monday content plays. Each one is grounded in what the data shows Monday viewers already watch. The drama drop is the highest impact — serialised content is proven to drive weekly return visits. Family block is cheapest to implement (existing channels, just scheduling).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growth plays, each backed by data. The female audience opportunity is the biggest — it's an untapped 88% of the SA population. Dormant subscribers are the quickest win — they already signed up, just haven't converted to viewers. Pitch these as 30/60/90 day initiatives.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risks — it builds credibility. The sports dependency is the most pressing. Recommend CVM tracks weekly sessions by content category to detect early signals of drop-off after sports events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confidence. Five clear takeaways — growth is happening, but it needs to be structured and diversified. The CVM team has four concrete Monday fixes and four growth initiatives they can start planning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Have the Databricks dashboard ready to pull up if they want to explore specific numbers. Be ready to discuss the dormant subscriber re-engagement campaign in more detail — that's typically what CVM teams want to action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5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2400" kern="0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Viewership Analytics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 Management — Strategic Insights 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– March 2016  ·  Data: UTC converted to SAST  ·  Analyst: Charlotte Turya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618488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6916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sources, size, quality checks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39696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16184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6916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39696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231136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Usage Trends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31136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watches, when, and how much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22192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79976" y="1618488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69164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22192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913632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Factors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913632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viewing behaviour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504688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62472" y="16184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69164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04688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596128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Low-Day Content Fix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596128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recommendations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187184" y="1417320"/>
            <a:ext cx="1572768" cy="2926080"/>
          </a:xfrm>
          <a:prstGeom prst="roundRect">
            <a:avLst>
              <a:gd name="adj" fmla="val 814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44968" y="1618488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69164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87184" y="22402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7278624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Initiatives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278624" y="3108960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to grow the subscriber base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Duration: 20 minutes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— DATASET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What We're Working With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60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836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5,375 rows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UserID · Name · Age · Gender · Race · Province · Email · Social Media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920 incomplete profiles (17%) — registered but unverified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92040" y="1325880"/>
            <a:ext cx="4160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508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Transactions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8836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rows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74920" y="24505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UserID · Channel · Record Date (UTC) · Duration (HH:MM:SS)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30175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7 duplicate records found and flagged. No missing values.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Processing Steps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07408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4944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→ SAST (+2hrs)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440740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377440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name standardisation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440740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59936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deduplication (COALESCE)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440740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42432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string → decimal minutes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440740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24928" y="44074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on UserID → single clean 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2016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6272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13432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4,386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267712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Viewers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7712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5,375 profiles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95344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32504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986784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Session (mins)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86784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viewing session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14416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51576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705856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Watch (hrs)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05856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89,893 minutes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33488" y="1325880"/>
            <a:ext cx="16276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70648" y="14538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24928" y="2039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Channels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24928" y="22768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deduplication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2926080"/>
          <a:ext cx="4023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663440" y="2926080"/>
            <a:ext cx="4297680" cy="192024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30632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+119%</a:t>
            </a:r>
            <a:endParaRPr lang="en-US" sz="4800" dirty="0"/>
          </a:p>
        </p:txBody>
      </p:sp>
      <p:sp>
        <p:nvSpPr>
          <p:cNvPr id="27" name="Text 24"/>
          <p:cNvSpPr/>
          <p:nvPr/>
        </p:nvSpPr>
        <p:spPr>
          <a:xfrm>
            <a:off x="484632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sessions from January to March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46320" y="41605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upward trajectory — platform gaining momentum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Are Subscribers Watching?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1325880"/>
          <a:ext cx="3383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858768"/>
            <a:ext cx="2697480" cy="256032"/>
          </a:xfrm>
          <a:prstGeom prst="roundRect">
            <a:avLst>
              <a:gd name="adj" fmla="val 21429"/>
            </a:avLst>
          </a:prstGeom>
          <a:solidFill>
            <a:srgbClr val="FFF1F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0352" y="388620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Monday: 957 sessions, 43% below Fri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291840" y="3858768"/>
            <a:ext cx="269748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64992" y="388620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Saturday: highest avg duration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126480" y="3858768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F3E8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99632" y="388620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Peak hours: 17:00–20:00 SAST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279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 Distribution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4636008"/>
            <a:ext cx="109728" cy="1097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6928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3,490  (35%)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157984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267712" y="46360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32304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267712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2,418  (24%)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858768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68496" y="463600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33088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968496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1,824  (18%)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559552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69280" y="4636008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33872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669280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1,366  (14%)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260336" y="4526280"/>
            <a:ext cx="15910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370064" y="463600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534656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Night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370064" y="4791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  (4%)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Subscribers Watching?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Genre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309360" y="169164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09360" y="1691640"/>
            <a:ext cx="1272845" cy="438912"/>
          </a:xfrm>
          <a:prstGeom prst="roundRect">
            <a:avLst>
              <a:gd name="adj" fmla="val 16667"/>
            </a:avLst>
          </a:prstGeom>
          <a:solidFill>
            <a:srgbClr val="6B21A8">
              <a:alpha val="20000"/>
            </a:srgbClr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2258568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258568"/>
            <a:ext cx="689458" cy="438912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350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46520" y="2350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2825496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2825496"/>
            <a:ext cx="265176" cy="438912"/>
          </a:xfrm>
          <a:prstGeom prst="roundRect">
            <a:avLst>
              <a:gd name="adj" fmla="val 27586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2916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2916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09360" y="339242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09360" y="3392424"/>
            <a:ext cx="132588" cy="438912"/>
          </a:xfrm>
          <a:prstGeom prst="roundRect">
            <a:avLst>
              <a:gd name="adj" fmla="val 55172"/>
            </a:avLst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483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3483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3959352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3959352"/>
            <a:ext cx="291694" cy="438912"/>
          </a:xfrm>
          <a:prstGeom prst="roundRect">
            <a:avLst>
              <a:gd name="adj" fmla="val 25078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4050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773168"/>
            <a:ext cx="411480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480060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Sports = 48% of all watch time — high content dependency risk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4773168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480060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Music (Channel O + Trace TV) is a strong #2 category at 26%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USER &amp; USAGE TRENDS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Subscribers?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26280" y="1325880"/>
          <a:ext cx="2103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720840" y="132588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3749040"/>
            <a:ext cx="2084832" cy="256032"/>
          </a:xfrm>
          <a:prstGeom prst="roundRect">
            <a:avLst>
              <a:gd name="adj" fmla="val 21429"/>
            </a:avLst>
          </a:prstGeom>
          <a:solidFill>
            <a:srgbClr val="F3E8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30352" y="377647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audience: 25–44 years = 70% of profiled users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2651760" y="3749040"/>
            <a:ext cx="2084832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724912" y="377647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users: only 12% vs 51% of SA population — major gap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846320" y="3749040"/>
            <a:ext cx="2084832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919472" y="377647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Gauteng dominates at 38% — other provinces underserved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7040880" y="3749040"/>
            <a:ext cx="2084832" cy="256032"/>
          </a:xfrm>
          <a:prstGeom prst="roundRect">
            <a:avLst>
              <a:gd name="adj" fmla="val 21429"/>
            </a:avLst>
          </a:prstGeom>
          <a:solidFill>
            <a:srgbClr val="FFF1F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114032" y="377647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registered profiles never watched — dormant base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— CONSUMPTION FACTORS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Viewing Behaviour?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002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5361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events drive 48% of all watch time. Live cricket alone accounts for 27.5%. Genre is the #1 consumption driver.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1371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02152" y="15361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002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5361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of Week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02152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and Saturday are peak days. Monday is 43% below average — no compelling content anchor on Mondays.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72784" y="13716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1536192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002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5361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9944" y="19385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(12–17h) drives the most sessions. Post-work evening (17–20h SAST) has the highest peak volume.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136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42416" y="31363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94360" y="35387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45–54 year olds watch the longest per session (10.9 mins avg). Sports-heavy content strongly skews to male viewers.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64992" y="29718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02152" y="3136392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004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1363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502152" y="35387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State has the highest avg session duration despite small user base — quality over quantity engagement pattern.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72784" y="29718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9944" y="3136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0040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13639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9944" y="35387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sessions are 119% above January — driven by ICC Cricket. Organic growth vs event-driven spikes must be separated.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— LOW CONSUMPTION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Monday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926080" cy="3291840"/>
          </a:xfrm>
          <a:prstGeom prst="roundRect">
            <a:avLst>
              <a:gd name="adj" fmla="val 4375"/>
            </a:avLst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957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Sessions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35808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Friday: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−43%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529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duration: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3529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mins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77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Saturday avg: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3877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Channels on Mondays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566160" y="1664208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3566160" y="4069080"/>
            <a:ext cx="530352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9312" y="409651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(Channel O + Trace TV) and Kids (Cartoon + Boomerang) are the Monday strengths — content strategy should leverage these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— LOW CONSUMPTION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 Fix: Content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402336" cy="402336"/>
          </a:xfrm>
          <a:prstGeom prst="ellipse">
            <a:avLst/>
          </a:prstGeom>
          <a:solidFill>
            <a:srgbClr val="6B21A8">
              <a:alpha val="15000"/>
            </a:srgbClr>
          </a:solidFill>
          <a:ln w="6350">
            <a:solidFill>
              <a:srgbClr val="6B21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Music Countdown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weekly top-10 music countdown on Channel O and Trace TV. Aligns with demonstrated Monday viewing preferences. Airs 18:00–20:00 SAST peak window.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28032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92624" y="1490472"/>
            <a:ext cx="402336" cy="402336"/>
          </a:xfrm>
          <a:prstGeom prst="ellipse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727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Highlights Show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92624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recap of the weekend's biggest sporting moments on SuperSport Blitz. Captures sports fans during the weekday dip and builds towards mid-week.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" y="3319272"/>
            <a:ext cx="402336" cy="402336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015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Viewing Block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1792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Cartoon Network + Boomerang Monday block at 17:00–19:00 SAST. Targets household viewing at peak after-school hours. Cross-sells to parents.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28032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92624" y="3319272"/>
            <a:ext cx="402336" cy="402336"/>
          </a:xfrm>
          <a:prstGeom prst="ellipse">
            <a:avLst/>
          </a:prstGeom>
          <a:solidFill>
            <a:srgbClr val="6B21A8">
              <a:alpha val="15000"/>
            </a:srgbClr>
          </a:solidFill>
          <a:ln w="6350">
            <a:solidFill>
              <a:srgbClr val="6B21A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015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Drama Drop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92624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Monday episode release on Africa Magic or M-Net. Serialised content drives appointment viewing — gives subscribers a reason to open the app every Monday.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GROWTH INITIATIVES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the BrightTV Subscriber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402336" cy="402336"/>
          </a:xfrm>
          <a:prstGeom prst="ellipse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Female-First Content Strategy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12% of profiled users are female vs 51% of SA population. Invest in E! Entertainment, local drama, and lifestyle programming. Target women 25–44 with dedicated content slots and social campaigns.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28032" y="13258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92624" y="1490472"/>
            <a:ext cx="402336" cy="402336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727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Provincial Expansion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92624" y="19842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Gauteng accounts for 38% of users but KZN, Eastern Cape and Free State are significantly underpenetrated relative to their populations. Geo-targeted digital campaigns and local content partnerships.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" y="3319272"/>
            <a:ext cx="402336" cy="402336"/>
          </a:xfrm>
          <a:prstGeom prst="ellipse">
            <a:avLst/>
          </a:prstGeom>
          <a:solidFill>
            <a:srgbClr val="6B21A8">
              <a:alpha val="15000"/>
            </a:srgbClr>
          </a:solidFill>
          <a:ln w="6350">
            <a:solidFill>
              <a:srgbClr val="6B21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015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Activation (18–24)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1792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Second-largest age group but lowest avg session duration. Social-first short content, TikTok and Instagram tie-ins with Trace TV and Channel O talent. In-app clips and trailers to drive app opens.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28032" y="315468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92624" y="3319272"/>
            <a:ext cx="402336" cy="402336"/>
          </a:xfrm>
          <a:prstGeom prst="ellipse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015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Dormant Subscribers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92624" y="3813048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registered users never watched in Q1. A personalised re-engagement campaign (free content previews, curated picks, push notifications) can convert these at near-zero acquisition cost.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GROWTH INITIATIVES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to Watch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0" y="15087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1527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Dependency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of watch time tied to cricket/sport. Season-end will cause consumption drop.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28032" y="132588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19872" y="15087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527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92624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Audience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92624" y="17647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female users — content mix is not resonating with half the SA population.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269748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715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29535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min avg suggests casual browsing not deep engagement. Churn risk is elevated.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28032" y="251460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19872" y="269748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2715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92624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92624" y="29535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subscribers registered but never watched. Risk of cancellation before first use.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38862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904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Completeness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41422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 incomplete profiles limit personalisation capability.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370332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9872" y="388620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9872" y="3904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92624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Single-Quarter 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41422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only — trend confidence improves with 12-month data.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15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" cy="402336"/>
          </a:xfrm>
          <a:prstGeom prst="ellipse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8988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growing fast — 119% session growth Jan→Mar. Strong momentum to build 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66544"/>
            <a:ext cx="402336" cy="402336"/>
          </a:xfrm>
          <a:prstGeom prst="ellipse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206654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dominates (48% watch time) — diversification is critical for long-term stability.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402336" cy="402336"/>
          </a:xfrm>
          <a:prstGeom prst="ellipse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264" y="27614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is the weakest day. Music, kids, and drama content can close the gap.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402336" cy="402336"/>
          </a:xfrm>
          <a:prstGeom prst="ellipse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7472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audience (12%) and provincial markets are the biggest subscriber growth opportunities.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51376"/>
            <a:ext cx="402336" cy="402336"/>
          </a:xfrm>
          <a:prstGeom prst="ellipse">
            <a:avLst/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96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41513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 dormant subscribers are the lowest-cost, highest-speed win available to CVM right now.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B15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743200" y="2194560"/>
            <a:ext cx="3657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 Turya  ·  Data Analyst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Cturya@gmail.com  ·  linkedin.com/in/charlotte-t-457bb8200  ·  github.com/CTurya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Period: Jan–Mar 2016  ·  Times in SAST (UTC+2)  ·  Source: BrightTV Dataset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Charlotte Turya</dc:creator>
  <cp:lastModifiedBy>Charlotte Turya</cp:lastModifiedBy>
  <cp:revision>1</cp:revision>
  <dcterms:created xsi:type="dcterms:W3CDTF">2026-06-30T10:14:57Z</dcterms:created>
  <dcterms:modified xsi:type="dcterms:W3CDTF">2026-06-30T10:14:57Z</dcterms:modified>
</cp:coreProperties>
</file>