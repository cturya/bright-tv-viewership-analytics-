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Monthly Session Growth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2199</c:v>
                </c:pt>
                <c:pt idx="1">
                  <c:v>2980</c:v>
                </c:pt>
                <c:pt idx="2">
                  <c:v>4816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Sessions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957</c:v>
                </c:pt>
                <c:pt idx="1">
                  <c:v>1322</c:v>
                </c:pt>
                <c:pt idx="2">
                  <c:v>1553</c:v>
                </c:pt>
                <c:pt idx="3">
                  <c:v>1441</c:v>
                </c:pt>
                <c:pt idx="4">
                  <c:v>1675</c:v>
                </c:pt>
                <c:pt idx="5">
                  <c:v>1633</c:v>
                </c:pt>
                <c:pt idx="6">
                  <c:v>1419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Hourly Pattern (SAST)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6B21A8"/>
            </a:solidFill>
            <a:ln w="31750" cap="flat">
              <a:solidFill>
                <a:srgbClr val="6B21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21A8"/>
              </a:solidFill>
              <a:ln w="9525" cap="flat">
                <a:solidFill>
                  <a:srgbClr val="6B21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00</c:v>
                  </c:pt>
                  <c:pt idx="1">
                    <c:v>02</c:v>
                  </c:pt>
                  <c:pt idx="2">
                    <c:v>04</c:v>
                  </c:pt>
                  <c:pt idx="3">
                    <c:v>06</c:v>
                  </c:pt>
                  <c:pt idx="4">
                    <c:v>08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180</c:v>
                </c:pt>
                <c:pt idx="1">
                  <c:v>80</c:v>
                </c:pt>
                <c:pt idx="2">
                  <c:v>49</c:v>
                </c:pt>
                <c:pt idx="3">
                  <c:v>180</c:v>
                </c:pt>
                <c:pt idx="4">
                  <c:v>401</c:v>
                </c:pt>
                <c:pt idx="5">
                  <c:v>539</c:v>
                </c:pt>
                <c:pt idx="6">
                  <c:v>634</c:v>
                </c:pt>
                <c:pt idx="7">
                  <c:v>620</c:v>
                </c:pt>
                <c:pt idx="8">
                  <c:v>627</c:v>
                </c:pt>
                <c:pt idx="9">
                  <c:v>648</c:v>
                </c:pt>
                <c:pt idx="10">
                  <c:v>622</c:v>
                </c:pt>
                <c:pt idx="11">
                  <c:v>498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Top 10 Channels by Total Watch Time (mins)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Watch Time (mins)</c:v>
                </c:pt>
              </c:strCache>
            </c:strRef>
          </c:tx>
          <c:spPr>
            <a:solidFill>
              <a:srgbClr val="6B21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ICC Cricket WC</c:v>
                  </c:pt>
                  <c:pt idx="1">
                    <c:v>Live Events</c:v>
                  </c:pt>
                  <c:pt idx="2">
                    <c:v>Channel O</c:v>
                  </c:pt>
                  <c:pt idx="3">
                    <c:v>Trace TV</c:v>
                  </c:pt>
                  <c:pt idx="4">
                    <c:v>SuperSport Blitz</c:v>
                  </c:pt>
                  <c:pt idx="5">
                    <c:v>Boomerang</c:v>
                  </c:pt>
                  <c:pt idx="6">
                    <c:v>Cartoon Network</c:v>
                  </c:pt>
                  <c:pt idx="7">
                    <c:v>CNN</c:v>
                  </c:pt>
                  <c:pt idx="8">
                    <c:v>E! Entertainment</c:v>
                  </c:pt>
                  <c:pt idx="9">
                    <c:v>Africa Magic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24727</c:v>
                </c:pt>
                <c:pt idx="1">
                  <c:v>18791</c:v>
                </c:pt>
                <c:pt idx="2">
                  <c:v>11565</c:v>
                </c:pt>
                <c:pt idx="3">
                  <c:v>11515</c:v>
                </c:pt>
                <c:pt idx="4">
                  <c:v>5440</c:v>
                </c:pt>
                <c:pt idx="5">
                  <c:v>4395</c:v>
                </c:pt>
                <c:pt idx="6">
                  <c:v>4215</c:v>
                </c:pt>
                <c:pt idx="7">
                  <c:v>4066</c:v>
                </c:pt>
                <c:pt idx="8">
                  <c:v>2219</c:v>
                </c:pt>
                <c:pt idx="9">
                  <c:v>1473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Age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&lt;18</c:v>
                  </c:pt>
                  <c:pt idx="1">
                    <c:v>18–24</c:v>
                  </c:pt>
                  <c:pt idx="2">
                    <c:v>25–34</c:v>
                  </c:pt>
                  <c:pt idx="3">
                    <c:v>35–44</c:v>
                  </c:pt>
                  <c:pt idx="4">
                    <c:v>45–54</c:v>
                  </c:pt>
                  <c:pt idx="5">
                    <c:v>55+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</c:v>
                </c:pt>
                <c:pt idx="1">
                  <c:v>638</c:v>
                </c:pt>
                <c:pt idx="2">
                  <c:v>1894</c:v>
                </c:pt>
                <c:pt idx="3">
                  <c:v>1215</c:v>
                </c:pt>
                <c:pt idx="4">
                  <c:v>454</c:v>
                </c:pt>
                <c:pt idx="5">
                  <c:v>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Gender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21A8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 (88%)</c:v>
                </c:pt>
                <c:pt idx="1">
                  <c:v>Female (12%)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3916</c:v>
                </c:pt>
                <c:pt idx="1">
                  <c:v>537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Users by Province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6B21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Gauteng</c:v>
                  </c:pt>
                  <c:pt idx="1">
                    <c:v>W. Cape</c:v>
                  </c:pt>
                  <c:pt idx="2">
                    <c:v>KZN</c:v>
                  </c:pt>
                  <c:pt idx="3">
                    <c:v>Mpumalanga</c:v>
                  </c:pt>
                  <c:pt idx="4">
                    <c:v>Limpopo</c:v>
                  </c:pt>
                  <c:pt idx="5">
                    <c:v>E. Cape</c:v>
                  </c:pt>
                  <c:pt idx="6">
                    <c:v>N. West</c:v>
                  </c:pt>
                  <c:pt idx="7">
                    <c:v>Free State</c:v>
                  </c:pt>
                  <c:pt idx="8">
                    <c:v>N. Cape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1704</c:v>
                </c:pt>
                <c:pt idx="1">
                  <c:v>791</c:v>
                </c:pt>
                <c:pt idx="2">
                  <c:v>480</c:v>
                </c:pt>
                <c:pt idx="3">
                  <c:v>420</c:v>
                </c:pt>
                <c:pt idx="4">
                  <c:v>368</c:v>
                </c:pt>
                <c:pt idx="5">
                  <c:v>287</c:v>
                </c:pt>
                <c:pt idx="6">
                  <c:v>161</c:v>
                </c:pt>
                <c:pt idx="7">
                  <c:v>156</c:v>
                </c:pt>
                <c:pt idx="8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Users by Race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6B21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Black</c:v>
                  </c:pt>
                  <c:pt idx="1">
                    <c:v>Indian/Asian</c:v>
                  </c:pt>
                  <c:pt idx="2">
                    <c:v>White</c:v>
                  </c:pt>
                  <c:pt idx="3">
                    <c:v>Coloured</c:v>
                  </c:pt>
                  <c:pt idx="4">
                    <c:v>Other</c:v>
                  </c:pt>
                  <c:pt idx="5">
                    <c:v>Unspecified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1811</c:v>
                </c:pt>
                <c:pt idx="1">
                  <c:v>768</c:v>
                </c:pt>
                <c:pt idx="2">
                  <c:v>760</c:v>
                </c:pt>
                <c:pt idx="3">
                  <c:v>679</c:v>
                </c:pt>
                <c:pt idx="4">
                  <c:v>48</c:v>
                </c:pt>
                <c:pt idx="5">
                  <c:v>1309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Monday Sessions</c:v>
                </c:pt>
              </c:strCache>
            </c:strRef>
          </c:tx>
          <c:spPr>
            <a:solidFill>
              <a:srgbClr val="6B21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Live Events</c:v>
                  </c:pt>
                  <c:pt idx="1">
                    <c:v>ICC Cricket</c:v>
                  </c:pt>
                  <c:pt idx="2">
                    <c:v>Channel O</c:v>
                  </c:pt>
                  <c:pt idx="3">
                    <c:v>Trace TV</c:v>
                  </c:pt>
                  <c:pt idx="4">
                    <c:v>Cartoon Network</c:v>
                  </c:pt>
                  <c:pt idx="5">
                    <c:v>Boomerang</c:v>
                  </c:pt>
                  <c:pt idx="6">
                    <c:v>Africa Magic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182</c:v>
                </c:pt>
                <c:pt idx="1">
                  <c:v>156</c:v>
                </c:pt>
                <c:pt idx="2">
                  <c:v>130</c:v>
                </c:pt>
                <c:pt idx="3">
                  <c:v>124</c:v>
                </c:pt>
                <c:pt idx="4">
                  <c:v>95</c:v>
                </c:pt>
                <c:pt idx="5">
                  <c:v>88</c:v>
                </c:pt>
                <c:pt idx="6">
                  <c:v>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introduce yourself. State the business objective: grow BrightTV's subscription base this financial year. Explain data period (Jan–Mar 2016) and that all times have been converted from UTC to SAST. Estimated time: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the agenda briefly. Five sections, 3–4 minutes each. Emphasise this is data-driven — every recommendation comes directly from the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walk through the two datasets. Highlight the 920 incomplete profiles — these are registered accounts that never completed setup, a re-engagement opportunity. Mention all UTC times were converted to SAST throughout the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119% growth — that's the headline. Q1 alone shows the platform is growing fast. March spike is likely driven by the ICC Cricket World Cup content. 4,386 of 5,375 profiles are active — good engagement rate but 989 subscribers never watched.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Monday is the clear problem day — call it out. Saturday has the best quality viewing (longest sessions). The hourly chart shows a clear double peak: morning commute and post-work evening. Afternoon 12–17h has the highest dwell time per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Sports dominates almost half of all viewing. This is both a strength and a risk — when there are no live events, consumption will drop. Music channels are the hidden gem. Children's content (Cartoon Network + Boomerang) at 10% represents a loyal family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audience sits firmly in 25–44, which is 70% of profiled users. The standout issue is gender — only 12% female against a national population that is roughly 51% female. That gap is one of the single biggest growth opportunities in this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Gauteng is heavily over-indexed at 38% of the user base — KZN, Eastern Cape and Free State represent real expansion territory relative to their population size. Race is fairly evenly spread across Black, Indian/Asian, White and Coloured viewers, though a large unspecified segment (1,309 profiles) limits how far we can personalise content by this dimension. The 989 dormant subscribers remain the fastest, lowest-cost win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factor quickly. The key message: consumption is driven by sports content, weekend timing, and afternoon hours. These three factors together explain most of the variance. The implication is clear — diversify away from sports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Monday is the weakest day by both volume and session quality. The good news: we can see what Monday viewers like — music and kids content. The fix is straightforward: create compelling Monday-specific content in these genres.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concrete Monday content plays. Each one is grounded in what the data shows Monday viewers already watch. The drama drop is the highest impact — serialised content is proven to drive weekly return visits. Family block is cheapest to implement (existing channels, just scheduling).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growth plays, each backed by data. The female audience opportunity is the biggest — it's an untapped 88% of the SA population. Dormant subscribers are the quickest win — they already signed up, just haven't converted to viewers. Pitch these as 30/60/90 day initiatives.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risks — it builds credibility. The sports dependency is the most pressing. Recommend CVM tracks weekly sessions by content category to detect early signals of drop-off after sports events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with confidence. Five clear takeaways — growth is happening, but it needs to be structured and diversified. The CVM team has four concrete Monday fixes and four growth initiatives they can start planning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Have the Databricks dashboard ready to pull up if they want to explore specific numbers. Be ready to discuss the dormant subscriber re-engagement campaign in more detail — that's typically what CVM teams want to action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5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2400" kern="0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2286000" y="2468880"/>
            <a:ext cx="45720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4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Viewership Analytics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Value Management — Strategic Insights Presentation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71800" y="3822192"/>
            <a:ext cx="457200" cy="457200"/>
          </a:xfrm>
          <a:prstGeom prst="ellipse">
            <a:avLst/>
          </a:prstGeom>
          <a:solidFill>
            <a:srgbClr val="A855F7">
              <a:alpha val="12000"/>
            </a:srgbClr>
          </a:solidFill>
          <a:ln w="9525">
            <a:solidFill>
              <a:srgbClr val="A855F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3913632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11880" y="3822192"/>
            <a:ext cx="457200" cy="457200"/>
          </a:xfrm>
          <a:prstGeom prst="ellipse">
            <a:avLst/>
          </a:prstGeom>
          <a:solidFill>
            <a:srgbClr val="14B8A6">
              <a:alpha val="12000"/>
            </a:srgbClr>
          </a:solidFill>
          <a:ln w="9525">
            <a:solidFill>
              <a:srgbClr val="14B8A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913632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251960" y="3822192"/>
            <a:ext cx="457200" cy="457200"/>
          </a:xfrm>
          <a:prstGeom prst="ellipse">
            <a:avLst/>
          </a:prstGeom>
          <a:solidFill>
            <a:srgbClr val="A855F7">
              <a:alpha val="12000"/>
            </a:srgbClr>
          </a:solidFill>
          <a:ln w="9525">
            <a:solidFill>
              <a:srgbClr val="A855F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913632"/>
            <a:ext cx="274320" cy="2743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892040" y="3822192"/>
            <a:ext cx="457200" cy="457200"/>
          </a:xfrm>
          <a:prstGeom prst="ellipse">
            <a:avLst/>
          </a:prstGeom>
          <a:solidFill>
            <a:srgbClr val="14B8A6">
              <a:alpha val="12000"/>
            </a:srgbClr>
          </a:solidFill>
          <a:ln w="9525">
            <a:solidFill>
              <a:srgbClr val="14B8A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913632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532120" y="3822192"/>
            <a:ext cx="457200" cy="457200"/>
          </a:xfrm>
          <a:prstGeom prst="ellipse">
            <a:avLst/>
          </a:prstGeom>
          <a:solidFill>
            <a:srgbClr val="A855F7">
              <a:alpha val="12000"/>
            </a:srgbClr>
          </a:solidFill>
          <a:ln w="9525">
            <a:solidFill>
              <a:srgbClr val="A855F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391363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– March 2016  ·  Data: UTC converted to SAST  ·  Analyst: Charlotte Turya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572768" cy="2926080"/>
          </a:xfrm>
          <a:prstGeom prst="roundRect">
            <a:avLst>
              <a:gd name="adj" fmla="val 8140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1618488"/>
            <a:ext cx="457200" cy="4572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69164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402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2587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10896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sources, size, quality checks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39696" y="1417320"/>
            <a:ext cx="1572768" cy="2926080"/>
          </a:xfrm>
          <a:prstGeom prst="roundRect">
            <a:avLst>
              <a:gd name="adj" fmla="val 8140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97480" y="161848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169164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39696" y="22402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231136" y="2587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&amp; Usage Trends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231136" y="310896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watches, when, and how much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822192" y="1417320"/>
            <a:ext cx="1572768" cy="2926080"/>
          </a:xfrm>
          <a:prstGeom prst="roundRect">
            <a:avLst>
              <a:gd name="adj" fmla="val 8140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379976" y="1618488"/>
            <a:ext cx="457200" cy="4572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169164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22192" y="22402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3913632" y="2587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Factors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913632" y="310896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viewing behaviour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504688" y="1417320"/>
            <a:ext cx="1572768" cy="2926080"/>
          </a:xfrm>
          <a:prstGeom prst="roundRect">
            <a:avLst>
              <a:gd name="adj" fmla="val 8140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062472" y="161848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1691640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04688" y="22402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5596128" y="2587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Low-Day Content Fix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596128" y="310896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recommendations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187184" y="1417320"/>
            <a:ext cx="1572768" cy="2926080"/>
          </a:xfrm>
          <a:prstGeom prst="roundRect">
            <a:avLst>
              <a:gd name="adj" fmla="val 8140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744968" y="1618488"/>
            <a:ext cx="457200" cy="4572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691640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87184" y="22402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7278624" y="2587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Initiatives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278624" y="310896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to grow the subscriber base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57200" y="4709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Duration: 20 minutes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— DATASET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Data: What We're Working With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6052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Profiles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8366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5,375 rows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45059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Fields: UserID · Name · Age · Gender · Race · Province · Email · Social Media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920 incomplete profiles (17%) — registered but unverified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92040" y="1325880"/>
            <a:ext cx="416052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1508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Viewership Transactions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88366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rows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74920" y="245059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Fields: UserID · Channel · Record Date (UTC) · Duration (HH:MM:SS)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74920" y="30175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7 duplicate records found and flagged. No missing values.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096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Processing Steps</a:t>
            </a:r>
            <a:endParaRPr lang="en-US" sz="1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407408"/>
            <a:ext cx="201168" cy="2011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4944" y="44074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UTC → SAST (+2hrs)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96" y="440740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377440" y="44074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name standardisation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4407408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059936" y="44074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UserID deduplication (COALESCE)</a:t>
            </a:r>
            <a:endParaRPr lang="en-US" sz="9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8" y="4407408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42432" y="44074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string → decimal minutes</a:t>
            </a:r>
            <a:endParaRPr lang="en-US" sz="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4407408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24928" y="44074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Joined on UserID → single clean 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— USER &amp; USAGE TRENDS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2016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6276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5389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039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Sessions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7685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76272" y="1325880"/>
            <a:ext cx="16276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13432" y="145389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4,386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267712" y="2039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Viewers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67712" y="227685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5,375 profiles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95344" y="1325880"/>
            <a:ext cx="16276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32504" y="145389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986784" y="2039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Session (mins)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86784" y="227685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viewing session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14416" y="1325880"/>
            <a:ext cx="16276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51576" y="145389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1,498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705856" y="2039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Watch (hrs)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05856" y="227685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89,893 minutes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33488" y="1325880"/>
            <a:ext cx="16276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70648" y="145389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424928" y="2039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Channels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24928" y="227685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deduplication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57200" y="2926080"/>
          <a:ext cx="40233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4663440" y="2926080"/>
            <a:ext cx="4297680" cy="1920240"/>
          </a:xfrm>
          <a:prstGeom prst="roundRect">
            <a:avLst>
              <a:gd name="adj" fmla="val 6667"/>
            </a:avLst>
          </a:prstGeom>
          <a:solidFill>
            <a:srgbClr val="F3E8FF"/>
          </a:solidFill>
          <a:ln w="6350">
            <a:solidFill>
              <a:srgbClr val="6B21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0" y="30632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+119%</a:t>
            </a:r>
            <a:endParaRPr lang="en-US" sz="4800" dirty="0"/>
          </a:p>
        </p:txBody>
      </p:sp>
      <p:sp>
        <p:nvSpPr>
          <p:cNvPr id="27" name="Text 24"/>
          <p:cNvSpPr/>
          <p:nvPr/>
        </p:nvSpPr>
        <p:spPr>
          <a:xfrm>
            <a:off x="4846320" y="3767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sessions from January to March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46320" y="41605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upward trajectory — platform gaining momentum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— USER &amp; USAGE TRENDS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Are Subscribers Watching?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029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577840" y="1325880"/>
          <a:ext cx="33832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858768"/>
            <a:ext cx="2697480" cy="256032"/>
          </a:xfrm>
          <a:prstGeom prst="roundRect">
            <a:avLst>
              <a:gd name="adj" fmla="val 21429"/>
            </a:avLst>
          </a:prstGeom>
          <a:solidFill>
            <a:srgbClr val="FFF1F2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30352" y="3886200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Monday: 957 sessions, 43% below Fri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291840" y="3858768"/>
            <a:ext cx="2697480" cy="256032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364992" y="3886200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Saturday: highest avg duration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126480" y="3858768"/>
            <a:ext cx="2743200" cy="256032"/>
          </a:xfrm>
          <a:prstGeom prst="roundRect">
            <a:avLst>
              <a:gd name="adj" fmla="val 21429"/>
            </a:avLst>
          </a:prstGeom>
          <a:solidFill>
            <a:srgbClr val="F3E8FF"/>
          </a:solidFill>
          <a:ln w="6350">
            <a:solidFill>
              <a:srgbClr val="6B21A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199632" y="388620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Peak hours: 17:00–20:00 SAST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57200" y="4279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of Day Distribution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526280"/>
            <a:ext cx="159105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6928" y="4636008"/>
            <a:ext cx="109728" cy="10972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1520" y="4562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66928" y="4791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3,490  (35%)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157984" y="4526280"/>
            <a:ext cx="159105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267712" y="463600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432304" y="4562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267712" y="4791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2,418  (24%)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858768" y="4526280"/>
            <a:ext cx="159105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968496" y="4636008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33088" y="4562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968496" y="4791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1,824  (18%)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559552" y="4526280"/>
            <a:ext cx="159105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669280" y="4636008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833872" y="4562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669280" y="4791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1,366  (14%)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7260336" y="4526280"/>
            <a:ext cx="159105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370064" y="4636008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534656" y="4562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Night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7370064" y="4791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432  (4%)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— USER &amp; USAGE TRENDS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Subscribers Watching?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Genre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309360" y="1691640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309360" y="1691640"/>
            <a:ext cx="1272845" cy="438912"/>
          </a:xfrm>
          <a:prstGeom prst="roundRect">
            <a:avLst>
              <a:gd name="adj" fmla="val 16667"/>
            </a:avLst>
          </a:prstGeom>
          <a:solidFill>
            <a:srgbClr val="6B21A8">
              <a:alpha val="20000"/>
            </a:srgbClr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783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46520" y="1783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2258568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2258568"/>
            <a:ext cx="689458" cy="438912"/>
          </a:xfrm>
          <a:prstGeom prst="roundRect">
            <a:avLst>
              <a:gd name="adj" fmla="val 1666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2350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46520" y="2350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2825496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09360" y="2825496"/>
            <a:ext cx="265176" cy="438912"/>
          </a:xfrm>
          <a:prstGeom prst="roundRect">
            <a:avLst>
              <a:gd name="adj" fmla="val 27586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29169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46520" y="2916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09360" y="3392424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09360" y="3392424"/>
            <a:ext cx="132588" cy="438912"/>
          </a:xfrm>
          <a:prstGeom prst="roundRect">
            <a:avLst>
              <a:gd name="adj" fmla="val 55172"/>
            </a:avLst>
          </a:prstGeom>
          <a:solidFill>
            <a:srgbClr val="64748B">
              <a:alpha val="2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34838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46520" y="3483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09360" y="3959352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3959352"/>
            <a:ext cx="291694" cy="438912"/>
          </a:xfrm>
          <a:prstGeom prst="roundRect">
            <a:avLst>
              <a:gd name="adj" fmla="val 25078"/>
            </a:avLst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6520" y="4050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46520" y="4050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4773168"/>
            <a:ext cx="4114800" cy="256032"/>
          </a:xfrm>
          <a:prstGeom prst="roundRect">
            <a:avLst>
              <a:gd name="adj" fmla="val 21429"/>
            </a:avLst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4800600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Sports = 48% of all watch time — high content dependency risk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63440" y="4773168"/>
            <a:ext cx="4206240" cy="256032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36592" y="4800600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Music (Channel O + Trace TV) is a strong #2 category at 26%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— USER &amp; USAGE TRENDS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Our Subscribers? — Age &amp; Gender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12064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760720" y="1371600"/>
          <a:ext cx="292608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224528"/>
            <a:ext cx="4114800" cy="256032"/>
          </a:xfrm>
          <a:prstGeom prst="roundRect">
            <a:avLst>
              <a:gd name="adj" fmla="val 21429"/>
            </a:avLst>
          </a:prstGeom>
          <a:solidFill>
            <a:srgbClr val="F3E8FF"/>
          </a:solidFill>
          <a:ln w="6350">
            <a:solidFill>
              <a:srgbClr val="6B21A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30352" y="4251960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audience: 25–44 years = 70% of profiled users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663440" y="4224528"/>
            <a:ext cx="4023360" cy="256032"/>
          </a:xfrm>
          <a:prstGeom prst="roundRect">
            <a:avLst>
              <a:gd name="adj" fmla="val 21429"/>
            </a:avLst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36592" y="425196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users: only 12% vs 51% of SA population — major gap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— USER &amp; USAGE TRENDS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Our Subscribers? — Province &amp; Race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411480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846320" y="1371600"/>
          <a:ext cx="393192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224528"/>
            <a:ext cx="4114800" cy="256032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30352" y="4251960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Gauteng dominates at 38% — other provinces underserved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663440" y="4224528"/>
            <a:ext cx="4023360" cy="256032"/>
          </a:xfrm>
          <a:prstGeom prst="roundRect">
            <a:avLst>
              <a:gd name="adj" fmla="val 21429"/>
            </a:avLst>
          </a:prstGeom>
          <a:solidFill>
            <a:srgbClr val="FFF1F2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36592" y="425196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989 registered profiles never watched — dormant base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— CONSUMPTION FACTORS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Viewing Behaviour?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36192"/>
            <a:ext cx="365760" cy="36576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0020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2416" y="153619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Type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19385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events drive 48% of all watch time. Live cricket alone accounts for 27.5%. Genre is the #1 consumption driver.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64992" y="13716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02152" y="153619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0020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0208" y="153619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of Week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502152" y="19385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and Saturday are peak days. Monday is 43% below average — no compelling content anchor on Mondays.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72784" y="13716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9944" y="1536192"/>
            <a:ext cx="365760" cy="36576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60020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53619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of Day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409944" y="19385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 (12–17h) drives the most sessions. Post-work evening (17–20h SAST) has the highest peak volume.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29718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" y="313639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20040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42416" y="313639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94360" y="35387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45–54 year olds watch the longest per session (10.9 mins avg). Sports-heavy content strongly skews to male viewers.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364992" y="29718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02152" y="3136392"/>
            <a:ext cx="365760" cy="36576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0040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50208" y="313639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502152" y="35387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State has the highest avg session duration despite small user base — quality over quantity engagement pattern.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272784" y="29718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09944" y="313639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20040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313639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409944" y="35387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sessions are 119% above January — driven by ICC Cricket. Organic growth vs event-driven spikes must be separated.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— LOW CONSUMPTION DAYS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Monday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926080" cy="3291840"/>
          </a:xfrm>
          <a:prstGeom prst="roundRect">
            <a:avLst>
              <a:gd name="adj" fmla="val 4375"/>
            </a:avLst>
          </a:prstGeom>
          <a:solidFill>
            <a:srgbClr val="FFF1F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957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Sessions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035808"/>
            <a:ext cx="2377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Friday: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−43%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5295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duration: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35295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 mins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8770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Saturday avg: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38770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−34%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325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Channels on Mondays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566160" y="1664208"/>
          <a:ext cx="5303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3566160" y="4069080"/>
            <a:ext cx="5303520" cy="256032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9312" y="409651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(Channel O + Trace TV) and Kids (Cartoon + Boomerang) are the Monday strengths — content strategy should leverage these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— LOW CONSUMPTION DAYS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Monday Fix: Content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90472"/>
            <a:ext cx="402336" cy="402336"/>
          </a:xfrm>
          <a:prstGeom prst="ellipse">
            <a:avLst/>
          </a:prstGeom>
          <a:solidFill>
            <a:srgbClr val="6B21A8">
              <a:alpha val="15000"/>
            </a:srgbClr>
          </a:solidFill>
          <a:ln w="6350">
            <a:solidFill>
              <a:srgbClr val="6B21A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727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463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Music Countdown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1792" y="1984248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weekly top-10 music countdown on Channel O and Trace TV. Aligns with demonstrated Monday viewing preferences. Airs 18:00–20:00 SAST peak window.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28032" y="132588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92624" y="1490472"/>
            <a:ext cx="402336" cy="402336"/>
          </a:xfrm>
          <a:prstGeom prst="ellipse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727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463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Highlights Show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992624" y="1984248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recap of the weekend's biggest sporting moments on SuperSport Blitz. Captures sports fans during the weekday dip and builds towards mid-week.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15468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" y="3319272"/>
            <a:ext cx="402336" cy="402336"/>
          </a:xfrm>
          <a:prstGeom prst="ellipse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4015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291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Viewing Block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1792" y="3813048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Cartoon Network + Boomerang Monday block at 17:00–19:00 SAST. Targets household viewing at peak after-school hours. Cross-sells to parents.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28032" y="315468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92624" y="3319272"/>
            <a:ext cx="402336" cy="402336"/>
          </a:xfrm>
          <a:prstGeom prst="ellipse">
            <a:avLst/>
          </a:prstGeom>
          <a:solidFill>
            <a:srgbClr val="6B21A8">
              <a:alpha val="15000"/>
            </a:srgbClr>
          </a:solidFill>
          <a:ln w="6350">
            <a:solidFill>
              <a:srgbClr val="6B21A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40156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291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Drama Drop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992624" y="3813048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 Monday episode release on Africa Magic or M-Net. Serialised content drives appointment viewing — gives subscribers a reason to open the app every Monday.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— GROWTH INITIATIVES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the BrightTV Subscriber 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90472"/>
            <a:ext cx="402336" cy="402336"/>
          </a:xfrm>
          <a:prstGeom prst="ellipse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727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463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Female-First Content Strategy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1792" y="1984248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12% of profiled users are female vs 51% of SA population. Invest in E! Entertainment, local drama, and lifestyle programming. Target women 25–44 with dedicated content slots and social campaigns.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28032" y="132588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92624" y="1490472"/>
            <a:ext cx="402336" cy="402336"/>
          </a:xfrm>
          <a:prstGeom prst="ellipse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727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463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Provincial Expansion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992624" y="1984248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Gauteng accounts for 38% of users but KZN, Eastern Cape and Free State are significantly underpenetrated relative to their populations. Geo-targeted digital campaigns and local content partnerships.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15468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" y="3319272"/>
            <a:ext cx="402336" cy="402336"/>
          </a:xfrm>
          <a:prstGeom prst="ellipse">
            <a:avLst/>
          </a:prstGeom>
          <a:solidFill>
            <a:srgbClr val="6B21A8">
              <a:alpha val="15000"/>
            </a:srgbClr>
          </a:solidFill>
          <a:ln w="6350">
            <a:solidFill>
              <a:srgbClr val="6B21A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4015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291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Activation (18–24)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1792" y="3813048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Second-largest age group but lowest avg session duration. Social-first short content, TikTok and Instagram tie-ins with Trace TV and Channel O talent. In-app clips and trailers to drive app opens.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28032" y="315468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92624" y="3319272"/>
            <a:ext cx="402336" cy="402336"/>
          </a:xfrm>
          <a:prstGeom prst="ellipse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40156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291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Win-Back Dormant Subscribers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992624" y="3813048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989 registered users never watched in Q1. A personalised re-engagement campaign (free content previews, curated picks, push notifications) can convert these at near-zero acquisition cost.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— GROWTH INITIATIVES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to Watch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49040" y="150876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F43F5E">
              <a:alpha val="20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15270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Dependency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76479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 of watch time tied to cricket/sport. Season-end will cause consumption drop.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28032" y="132588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19872" y="150876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F43F5E">
              <a:alpha val="20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19872" y="15270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92624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Audience Gap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92624" y="176479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female users — content mix is not resonating with half the SA population.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269748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715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" y="2624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Sessions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29535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 min avg suggests casual browsing not deep engagement. Churn risk is elevated.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28032" y="251460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19872" y="269748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9872" y="2715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92624" y="2624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Dormant Users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92624" y="29535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989 subscribers registered but never watched. Risk of cancellation before first use.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49040" y="388620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39044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" y="3813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Completeness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" y="414223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920 incomplete profiles limit personalisation capability.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28032" y="370332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19872" y="388620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19872" y="39044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92624" y="3813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Single-Quarter View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92624" y="414223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only — trend confidence improves with 12-month data.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B15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280160"/>
            <a:ext cx="402336" cy="402336"/>
          </a:xfrm>
          <a:prstGeom prst="ellipse">
            <a:avLst/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98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225296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growing fast — 119% session growth Jan→Mar. Strong momentum to build 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" y="1993392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20116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93852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dominates (48% watch time) — diversification is critical for long-term stability.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" y="2706624"/>
            <a:ext cx="402336" cy="402336"/>
          </a:xfrm>
          <a:prstGeom prst="ellipse">
            <a:avLst/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7249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65176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is the weakest day. Music, kids, and drama content can close the gap.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10128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" y="341985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343814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36499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audience (12%) and provincial markets are the biggest subscriber growth opportunities.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" y="4133088"/>
            <a:ext cx="402336" cy="402336"/>
          </a:xfrm>
          <a:prstGeom prst="ellipse">
            <a:avLst/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415137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07822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989 dormant subscribers are the lowest-cost, highest-speed win available to CVM right now.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B15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2743200" y="2194560"/>
            <a:ext cx="3657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Charlotte Turya  ·  Data Analyst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Cturya@gmail.com  ·  linkedin.com/in/charlotte-t-457bb8200  ·  github.com/CTurya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71800" y="3840480"/>
            <a:ext cx="420624" cy="420624"/>
          </a:xfrm>
          <a:prstGeom prst="ellipse">
            <a:avLst/>
          </a:prstGeom>
          <a:solidFill>
            <a:srgbClr val="A855F7">
              <a:alpha val="12000"/>
            </a:srgbClr>
          </a:solidFill>
          <a:ln w="9525">
            <a:solidFill>
              <a:srgbClr val="A855F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3922776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11880" y="3840480"/>
            <a:ext cx="420624" cy="420624"/>
          </a:xfrm>
          <a:prstGeom prst="ellipse">
            <a:avLst/>
          </a:prstGeom>
          <a:solidFill>
            <a:srgbClr val="14B8A6">
              <a:alpha val="12000"/>
            </a:srgbClr>
          </a:solidFill>
          <a:ln w="9525">
            <a:solidFill>
              <a:srgbClr val="14B8A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922776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251960" y="3840480"/>
            <a:ext cx="420624" cy="420624"/>
          </a:xfrm>
          <a:prstGeom prst="ellipse">
            <a:avLst/>
          </a:prstGeom>
          <a:solidFill>
            <a:srgbClr val="A855F7">
              <a:alpha val="12000"/>
            </a:srgbClr>
          </a:solidFill>
          <a:ln w="9525">
            <a:solidFill>
              <a:srgbClr val="A855F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922776"/>
            <a:ext cx="256032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892040" y="3840480"/>
            <a:ext cx="420624" cy="420624"/>
          </a:xfrm>
          <a:prstGeom prst="ellipse">
            <a:avLst/>
          </a:prstGeom>
          <a:solidFill>
            <a:srgbClr val="14B8A6">
              <a:alpha val="12000"/>
            </a:srgbClr>
          </a:solidFill>
          <a:ln w="9525">
            <a:solidFill>
              <a:srgbClr val="14B8A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922776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532120" y="3840480"/>
            <a:ext cx="420624" cy="420624"/>
          </a:xfrm>
          <a:prstGeom prst="ellipse">
            <a:avLst/>
          </a:prstGeom>
          <a:solidFill>
            <a:srgbClr val="A855F7">
              <a:alpha val="12000"/>
            </a:srgbClr>
          </a:solidFill>
          <a:ln w="9525">
            <a:solidFill>
              <a:srgbClr val="A855F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392277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7200" y="4709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Period: Jan–Mar 2016  ·  Times in SAST (UTC+2)  ·  Source: BrightTV Dataset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Analytics</dc:title>
  <dc:subject>PptxGenJS Presentation</dc:subject>
  <dc:creator>Charlotte Turya</dc:creator>
  <cp:lastModifiedBy>Charlotte Turya</cp:lastModifiedBy>
  <cp:revision>1</cp:revision>
  <dcterms:created xsi:type="dcterms:W3CDTF">2026-06-30T19:08:53Z</dcterms:created>
  <dcterms:modified xsi:type="dcterms:W3CDTF">2026-06-30T19:08:53Z</dcterms:modified>
</cp:coreProperties>
</file>